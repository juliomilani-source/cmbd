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839206-42C7-4974-9EE5-1FBCC9EB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49BE28E-97A7-4803-96A6-6C5AF976A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3CC0F02-7B94-4700-A9CC-466A192CD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F3A6712-B9A2-4759-88F1-78792ACC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9E4DC98-417C-4514-AF1D-1517E173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0B3AE7-F9D5-40C7-BBEB-3F4ABD04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6286139-4633-4552-A3EA-7EFA213D5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8062605-207F-4AC9-800B-7AD50DE250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BE2517A-180A-4C98-90ED-2CE8944F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AA57FD-9C94-4080-B2F8-8BA1B86C2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BF24318-E467-4A75-A10B-CB91A9AC422D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85725" cy="495300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76D4F3C-7E4F-412C-A406-EF577B375DA2}"/>
              </a:ext>
            </a:extLst>
          </p:cNvPr>
          <p:cNvSpPr>
            <a:spLocks noGrp="1"/>
          </p:cNvSpPr>
          <p:nvPr/>
        </p:nvSpPr>
        <p:spPr>
          <a:xfrm>
            <a:off x="1066800" y="1171575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A9D8C8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275" b="1">
                <a:solidFill>
                  <a:srgbClr val="A9D8C8"/>
                </a:solidFill>
              </a:defRPr>
            </a:pPr>
            <a:r>
              <a:rPr sz="1275" b="1" dirty="0">
                <a:solidFill>
                  <a:srgbClr val="A9D8C8"/>
                </a:solidFill>
              </a:rPr>
              <a:t>PROJETO DE BANCO DE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4C55E20-1BD9-410F-B18D-E0DB31C3669A}"/>
              </a:ext>
            </a:extLst>
          </p:cNvPr>
          <p:cNvSpPr>
            <a:spLocks noGrp="1"/>
          </p:cNvSpPr>
          <p:nvPr/>
        </p:nvSpPr>
        <p:spPr>
          <a:xfrm>
            <a:off x="1066800" y="1762125"/>
            <a:ext cx="8858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4800" b="1">
                <a:solidFill>
                  <a:srgbClr val="FFFFFF"/>
                </a:solidFill>
              </a:defRPr>
            </a:defPPr>
          </a:lstStyle>
          <a:p>
            <a:pPr algn="l">
              <a:lnSpc>
                <a:spcPct val="98000"/>
              </a:lnSpc>
              <a:buNone/>
              <a:defRPr sz="4800" b="1">
                <a:solidFill>
                  <a:srgbClr val="FFFFFF"/>
                </a:solidFill>
              </a:defRPr>
            </a:pPr>
            <a:r>
              <a:rPr sz="4800" b="1" dirty="0">
                <a:solidFill>
                  <a:srgbClr val="FFFFFF"/>
                </a:solidFill>
              </a:rPr>
              <a:t>Sistema de</a:t>
            </a:r>
          </a:p>
          <a:p>
            <a:pPr algn="l">
              <a:lnSpc>
                <a:spcPct val="98000"/>
              </a:lnSpc>
              <a:buNone/>
              <a:defRPr sz="4800" b="1">
                <a:solidFill>
                  <a:srgbClr val="FFFFFF"/>
                </a:solidFill>
              </a:defRPr>
            </a:pPr>
            <a:r>
              <a:rPr sz="4800" b="1" dirty="0" err="1">
                <a:solidFill>
                  <a:srgbClr val="FFFFFF"/>
                </a:solidFill>
              </a:rPr>
              <a:t>vendas</a:t>
            </a:r>
            <a:r>
              <a:rPr sz="4800" b="1" dirty="0">
                <a:solidFill>
                  <a:srgbClr val="FFFFFF"/>
                </a:solidFill>
              </a:rPr>
              <a:t> CMDB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4511F5-BFA2-4B05-980C-5F2E24C87AA7}"/>
              </a:ext>
            </a:extLst>
          </p:cNvPr>
          <p:cNvSpPr>
            <a:spLocks noGrp="1"/>
          </p:cNvSpPr>
          <p:nvPr/>
        </p:nvSpPr>
        <p:spPr>
          <a:xfrm>
            <a:off x="1104900" y="3857625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0">
                <a:solidFill>
                  <a:srgbClr val="D9E5DF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875" b="0">
                <a:solidFill>
                  <a:srgbClr val="D9E5DF"/>
                </a:solidFill>
              </a:defRPr>
            </a:pPr>
            <a:r>
              <a:rPr sz="1875" b="0">
                <a:solidFill>
                  <a:srgbClr val="D9E5DF"/>
                </a:solidFill>
              </a:rPr>
              <a:t>Criação e manipulação de banco de 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9B94A98-BD91-4DC2-A582-60956A7E12A9}"/>
              </a:ext>
            </a:extLst>
          </p:cNvPr>
          <p:cNvSpPr>
            <a:spLocks noGrp="1"/>
          </p:cNvSpPr>
          <p:nvPr/>
        </p:nvSpPr>
        <p:spPr>
          <a:xfrm>
            <a:off x="1085850" y="4486275"/>
            <a:ext cx="1002030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FFFFFF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</a:rPr>
              <a:t>Júlio Cezar Krug Milani  </a:t>
            </a:r>
            <a:endParaRPr lang="pt-BR" sz="1400" b="0" dirty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</a:defRPr>
            </a:pPr>
            <a:endParaRPr lang="pt-BR" sz="1400" dirty="0">
              <a:solidFill>
                <a:srgbClr val="FFFFFF"/>
              </a:solidFill>
            </a:endParaRPr>
          </a:p>
          <a:p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</a:defRPr>
            </a:pPr>
            <a:r>
              <a:rPr lang="pt-BR" sz="1350" dirty="0">
                <a:solidFill>
                  <a:srgbClr val="FFFFFF"/>
                </a:solidFill>
              </a:rPr>
              <a:t>- </a:t>
            </a:r>
            <a:r>
              <a:rPr lang="pt-BR" sz="1350" b="0" dirty="0" err="1">
                <a:solidFill>
                  <a:srgbClr val="FFFFFF"/>
                </a:solidFill>
              </a:rPr>
              <a:t>Dessenvolvimento</a:t>
            </a:r>
            <a:r>
              <a:rPr sz="1350" b="0" dirty="0">
                <a:solidFill>
                  <a:srgbClr val="FFFFFF"/>
                </a:solidFill>
              </a:rPr>
              <a:t> de Sistemas da </a:t>
            </a:r>
            <a:r>
              <a:rPr sz="1350" b="0" dirty="0" err="1">
                <a:solidFill>
                  <a:srgbClr val="FFFFFF"/>
                </a:solidFill>
              </a:rPr>
              <a:t>Informação</a:t>
            </a:r>
            <a:endParaRPr sz="1350" b="0" dirty="0">
              <a:solidFill>
                <a:srgbClr val="FFFFFF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A18128-BC72-45DC-88C2-BD39346CE9E5}"/>
              </a:ext>
            </a:extLst>
          </p:cNvPr>
          <p:cNvSpPr>
            <a:spLocks noGrp="1"/>
          </p:cNvSpPr>
          <p:nvPr/>
        </p:nvSpPr>
        <p:spPr>
          <a:xfrm>
            <a:off x="1104900" y="56007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A9D8C8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200" b="0">
                <a:solidFill>
                  <a:srgbClr val="A9D8C8"/>
                </a:solidFill>
              </a:defRPr>
            </a:pPr>
            <a:r>
              <a:rPr sz="1200" b="0">
                <a:solidFill>
                  <a:srgbClr val="A9D8C8"/>
                </a:solidFill>
              </a:rPr>
              <a:t>SENAI  |  Professor Lucas de Mattos</a:t>
            </a:r>
          </a:p>
        </p:txBody>
      </p:sp>
    </p:spTree>
    <p:extLst>
      <p:ext uri="{BB962C8B-B14F-4D97-AF65-F5344CB8AC3E}">
        <p14:creationId xmlns:p14="http://schemas.microsoft.com/office/powerpoint/2010/main" val="127057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BA2110C-E5A0-4ACE-960C-E11EAEAB8E9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235FD1A-9E03-41CE-A772-0B5E250496C6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Objetivo do sistema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DD25660-D001-47D4-A13D-FF374C3FD32C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3DDDC97-0901-453A-91FE-32DB9A9E7F13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1019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550" b="1">
                <a:solidFill>
                  <a:srgbClr val="153B3D"/>
                </a:solidFill>
              </a:defRPr>
            </a:pPr>
            <a:r>
              <a:rPr sz="2550" b="1">
                <a:solidFill>
                  <a:srgbClr val="153B3D"/>
                </a:solidFill>
              </a:rPr>
              <a:t>Centralizar dados que hoje estão dispersos em planilhas.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C5E7D85-B690-4FF6-8AE0-6A3B77D893F1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9525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20000"/>
              </a:lnSpc>
              <a:buNone/>
              <a:defRPr sz="1875" b="0">
                <a:solidFill>
                  <a:srgbClr val="536967"/>
                </a:solidFill>
              </a:defRPr>
            </a:pPr>
            <a:r>
              <a:rPr sz="1875" b="0" dirty="0">
                <a:solidFill>
                  <a:srgbClr val="536967"/>
                </a:solidFill>
              </a:rPr>
              <a:t>O banco </a:t>
            </a:r>
            <a:r>
              <a:rPr sz="1875" b="0" dirty="0" err="1">
                <a:solidFill>
                  <a:srgbClr val="536967"/>
                </a:solidFill>
              </a:rPr>
              <a:t>reúne</a:t>
            </a:r>
            <a:r>
              <a:rPr sz="1875" b="0" dirty="0">
                <a:solidFill>
                  <a:srgbClr val="536967"/>
                </a:solidFill>
              </a:rPr>
              <a:t> </a:t>
            </a:r>
            <a:r>
              <a:rPr sz="1875" b="0" dirty="0" err="1">
                <a:solidFill>
                  <a:srgbClr val="536967"/>
                </a:solidFill>
              </a:rPr>
              <a:t>informações</a:t>
            </a:r>
            <a:r>
              <a:rPr sz="1875" b="0" dirty="0">
                <a:solidFill>
                  <a:srgbClr val="536967"/>
                </a:solidFill>
              </a:rPr>
              <a:t> de </a:t>
            </a:r>
            <a:r>
              <a:rPr sz="1875" b="0" dirty="0" err="1">
                <a:solidFill>
                  <a:srgbClr val="536967"/>
                </a:solidFill>
              </a:rPr>
              <a:t>clientes</a:t>
            </a:r>
            <a:r>
              <a:rPr sz="1875" b="0" dirty="0">
                <a:solidFill>
                  <a:srgbClr val="536967"/>
                </a:solidFill>
              </a:rPr>
              <a:t>, </a:t>
            </a:r>
            <a:r>
              <a:rPr sz="1875" b="0" dirty="0" err="1">
                <a:solidFill>
                  <a:srgbClr val="536967"/>
                </a:solidFill>
              </a:rPr>
              <a:t>fornecedores</a:t>
            </a:r>
            <a:r>
              <a:rPr sz="1875" b="0" dirty="0">
                <a:solidFill>
                  <a:srgbClr val="536967"/>
                </a:solidFill>
              </a:rPr>
              <a:t>, </a:t>
            </a:r>
            <a:r>
              <a:rPr sz="1875" b="0" dirty="0" err="1">
                <a:solidFill>
                  <a:srgbClr val="536967"/>
                </a:solidFill>
              </a:rPr>
              <a:t>produtos</a:t>
            </a:r>
            <a:r>
              <a:rPr sz="1875" b="0" dirty="0">
                <a:solidFill>
                  <a:srgbClr val="536967"/>
                </a:solidFill>
              </a:rPr>
              <a:t>, </a:t>
            </a:r>
            <a:r>
              <a:rPr sz="1875" b="0" dirty="0" err="1">
                <a:solidFill>
                  <a:srgbClr val="536967"/>
                </a:solidFill>
              </a:rPr>
              <a:t>compras</a:t>
            </a:r>
            <a:r>
              <a:rPr sz="1875" b="0" dirty="0">
                <a:solidFill>
                  <a:srgbClr val="536967"/>
                </a:solidFill>
              </a:rPr>
              <a:t> e </a:t>
            </a:r>
            <a:r>
              <a:rPr sz="1875" b="0" dirty="0" err="1">
                <a:solidFill>
                  <a:srgbClr val="536967"/>
                </a:solidFill>
              </a:rPr>
              <a:t>pedidos</a:t>
            </a:r>
            <a:r>
              <a:rPr sz="1875" b="0" dirty="0">
                <a:solidFill>
                  <a:srgbClr val="536967"/>
                </a:solidFill>
              </a:rPr>
              <a:t> para </a:t>
            </a:r>
            <a:r>
              <a:rPr sz="1875" b="0" dirty="0" err="1">
                <a:solidFill>
                  <a:srgbClr val="536967"/>
                </a:solidFill>
              </a:rPr>
              <a:t>facilitar</a:t>
            </a:r>
            <a:r>
              <a:rPr sz="1875" b="0" dirty="0">
                <a:solidFill>
                  <a:srgbClr val="536967"/>
                </a:solidFill>
              </a:rPr>
              <a:t> </a:t>
            </a:r>
            <a:r>
              <a:rPr sz="1875" b="0" dirty="0" err="1">
                <a:solidFill>
                  <a:srgbClr val="536967"/>
                </a:solidFill>
              </a:rPr>
              <a:t>consultas</a:t>
            </a:r>
            <a:r>
              <a:rPr sz="1875" b="0" dirty="0">
                <a:solidFill>
                  <a:srgbClr val="536967"/>
                </a:solidFill>
              </a:rPr>
              <a:t> e </a:t>
            </a:r>
            <a:r>
              <a:rPr sz="1875" b="0" dirty="0" err="1">
                <a:solidFill>
                  <a:srgbClr val="536967"/>
                </a:solidFill>
              </a:rPr>
              <a:t>gerar</a:t>
            </a:r>
            <a:r>
              <a:rPr sz="1875" b="0" dirty="0">
                <a:solidFill>
                  <a:srgbClr val="536967"/>
                </a:solidFill>
              </a:rPr>
              <a:t> </a:t>
            </a:r>
            <a:r>
              <a:rPr sz="1875" b="0" dirty="0" err="1">
                <a:solidFill>
                  <a:srgbClr val="536967"/>
                </a:solidFill>
              </a:rPr>
              <a:t>relatórios</a:t>
            </a:r>
            <a:r>
              <a:rPr sz="1875" b="0" dirty="0">
                <a:solidFill>
                  <a:srgbClr val="536967"/>
                </a:solidFill>
              </a:rPr>
              <a:t> </a:t>
            </a:r>
            <a:r>
              <a:rPr sz="1875" b="0" dirty="0" err="1">
                <a:solidFill>
                  <a:srgbClr val="536967"/>
                </a:solidFill>
              </a:rPr>
              <a:t>confiáveis</a:t>
            </a:r>
            <a:r>
              <a:rPr sz="1875" b="0" dirty="0">
                <a:solidFill>
                  <a:srgbClr val="536967"/>
                </a:solidFill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40D3D18-77DA-4533-A458-8337ACDA1224}"/>
              </a:ext>
            </a:extLst>
          </p:cNvPr>
          <p:cNvSpPr>
            <a:spLocks noGrp="1"/>
          </p:cNvSpPr>
          <p:nvPr/>
        </p:nvSpPr>
        <p:spPr>
          <a:xfrm>
            <a:off x="876300" y="4391025"/>
            <a:ext cx="2238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153B3D"/>
                </a:solidFill>
              </a:defRPr>
            </a:pPr>
            <a:r>
              <a:rPr sz="2250" b="1">
                <a:solidFill>
                  <a:srgbClr val="153B3D"/>
                </a:solidFill>
              </a:rPr>
              <a:t>MySQL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4C24E4A-C342-490E-A3BD-354DC5380A6C}"/>
              </a:ext>
            </a:extLst>
          </p:cNvPr>
          <p:cNvSpPr>
            <a:spLocks noGrp="1"/>
          </p:cNvSpPr>
          <p:nvPr/>
        </p:nvSpPr>
        <p:spPr>
          <a:xfrm>
            <a:off x="876300" y="4867275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536967"/>
                </a:solidFill>
              </a:defRPr>
            </a:pPr>
            <a:r>
              <a:rPr sz="1500" b="0">
                <a:solidFill>
                  <a:srgbClr val="536967"/>
                </a:solidFill>
              </a:rPr>
              <a:t>Banco de dados relacional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D1F302-B979-4EF0-A027-B1A322F97F65}"/>
              </a:ext>
            </a:extLst>
          </p:cNvPr>
          <p:cNvSpPr>
            <a:spLocks noGrp="1"/>
          </p:cNvSpPr>
          <p:nvPr/>
        </p:nvSpPr>
        <p:spPr>
          <a:xfrm>
            <a:off x="4857750" y="439102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153B3D"/>
                </a:solidFill>
              </a:defRPr>
            </a:pPr>
            <a:r>
              <a:rPr sz="2250" b="1">
                <a:solidFill>
                  <a:srgbClr val="153B3D"/>
                </a:solidFill>
              </a:rPr>
              <a:t>HeidiSQL + Laragon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D01F16F-8FE0-4765-83A7-2493668FE449}"/>
              </a:ext>
            </a:extLst>
          </p:cNvPr>
          <p:cNvSpPr>
            <a:spLocks noGrp="1"/>
          </p:cNvSpPr>
          <p:nvPr/>
        </p:nvSpPr>
        <p:spPr>
          <a:xfrm>
            <a:off x="4857750" y="486727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536967"/>
                </a:solidFill>
              </a:defRPr>
            </a:pPr>
            <a:r>
              <a:rPr sz="1500" b="0">
                <a:solidFill>
                  <a:srgbClr val="536967"/>
                </a:solidFill>
              </a:rPr>
              <a:t>Ambiente usado na criação e manipulação</a:t>
            </a:r>
          </a:p>
        </p:txBody>
      </p:sp>
    </p:spTree>
    <p:extLst>
      <p:ext uri="{BB962C8B-B14F-4D97-AF65-F5344CB8AC3E}">
        <p14:creationId xmlns:p14="http://schemas.microsoft.com/office/powerpoint/2010/main" val="214293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5653AACA-DC0A-4947-96A6-28AC81DA98C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B5850C8-D2E7-4E60-AC8E-02B200672A86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Como os dados se organizam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B2E355-3E51-4B1C-9C44-D8FD653BBB47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D58C2C-2688-4B37-83D2-6F636F5FB24D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285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100" b="1">
                <a:solidFill>
                  <a:srgbClr val="153B3D"/>
                </a:solidFill>
              </a:defRPr>
            </a:pPr>
            <a:r>
              <a:rPr sz="2100" b="1">
                <a:solidFill>
                  <a:srgbClr val="153B3D"/>
                </a:solidFill>
              </a:rPr>
              <a:t>Cadastros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D2D45E0-DCCF-4D49-A4F9-C7A6DE9EF266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3524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536967"/>
                </a:solidFill>
              </a:defRPr>
            </a:defPPr>
          </a:lstStyle>
          <a:p>
            <a:pPr>
              <a:lnSpc>
                <a:spcPct val="135000"/>
              </a:lnSpc>
              <a:defRPr sz="1725" b="0">
                <a:solidFill>
                  <a:srgbClr val="536967"/>
                </a:solidFill>
              </a:defRPr>
            </a:pPr>
            <a:r>
              <a:rPr lang="pt-BR" sz="1725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Clientes</a:t>
            </a:r>
            <a:r>
              <a:rPr sz="1725" b="0" dirty="0">
                <a:solidFill>
                  <a:srgbClr val="536967"/>
                </a:solidFill>
              </a:rPr>
              <a:t>  </a:t>
            </a:r>
            <a:endParaRPr lang="pt-BR" sz="1725" b="0" dirty="0">
              <a:solidFill>
                <a:srgbClr val="536967"/>
              </a:solidFill>
            </a:endParaRPr>
          </a:p>
          <a:p>
            <a:pPr algn="l">
              <a:lnSpc>
                <a:spcPct val="135000"/>
              </a:lnSpc>
              <a:buNone/>
              <a:defRPr sz="1725" b="0">
                <a:solidFill>
                  <a:srgbClr val="536967"/>
                </a:solidFill>
              </a:defRPr>
            </a:pPr>
            <a:r>
              <a:rPr lang="pt-BR" sz="1725" b="0" dirty="0">
                <a:solidFill>
                  <a:srgbClr val="536967"/>
                </a:solidFill>
              </a:rPr>
              <a:t>•</a:t>
            </a:r>
            <a:r>
              <a:rPr lang="pt-BR" sz="1725" dirty="0">
                <a:solidFill>
                  <a:srgbClr val="536967"/>
                </a:solidFill>
              </a:rPr>
              <a:t> </a:t>
            </a:r>
            <a:r>
              <a:rPr sz="1725" b="0" dirty="0" err="1">
                <a:solidFill>
                  <a:srgbClr val="536967"/>
                </a:solidFill>
              </a:rPr>
              <a:t>Fornecedores</a:t>
            </a:r>
            <a:endParaRPr sz="1725" b="0" dirty="0">
              <a:solidFill>
                <a:srgbClr val="536967"/>
              </a:solidFill>
            </a:endParaRPr>
          </a:p>
          <a:p>
            <a:pPr>
              <a:lnSpc>
                <a:spcPct val="135000"/>
              </a:lnSpc>
              <a:defRPr sz="1725" b="0">
                <a:solidFill>
                  <a:srgbClr val="536967"/>
                </a:solidFill>
              </a:defRPr>
            </a:pPr>
            <a:r>
              <a:rPr lang="pt-BR" sz="1725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Produtos</a:t>
            </a:r>
            <a:endParaRPr sz="1725" b="0" dirty="0">
              <a:solidFill>
                <a:srgbClr val="536967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E77E82E-1536-4DEC-A153-183C7D4411E5}"/>
              </a:ext>
            </a:extLst>
          </p:cNvPr>
          <p:cNvSpPr>
            <a:spLocks noGrp="1"/>
          </p:cNvSpPr>
          <p:nvPr/>
        </p:nvSpPr>
        <p:spPr>
          <a:xfrm>
            <a:off x="4572000" y="1619250"/>
            <a:ext cx="3333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100" b="1">
                <a:solidFill>
                  <a:srgbClr val="153B3D"/>
                </a:solidFill>
              </a:defRPr>
            </a:pPr>
            <a:r>
              <a:rPr sz="2100" b="1">
                <a:solidFill>
                  <a:srgbClr val="153B3D"/>
                </a:solidFill>
              </a:rPr>
              <a:t>Movimentações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D5A851B-4CD1-4C4A-A3BC-569CCD311746}"/>
              </a:ext>
            </a:extLst>
          </p:cNvPr>
          <p:cNvSpPr>
            <a:spLocks noGrp="1"/>
          </p:cNvSpPr>
          <p:nvPr/>
        </p:nvSpPr>
        <p:spPr>
          <a:xfrm>
            <a:off x="4572000" y="215265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536967"/>
                </a:solidFill>
              </a:defRPr>
            </a:defPPr>
          </a:lstStyle>
          <a:p>
            <a:pPr>
              <a:lnSpc>
                <a:spcPct val="110000"/>
              </a:lnSpc>
              <a:defRPr sz="1725" b="0">
                <a:solidFill>
                  <a:srgbClr val="536967"/>
                </a:solidFill>
              </a:defRPr>
            </a:pPr>
            <a:r>
              <a:rPr lang="pt-BR" sz="1725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Compras</a:t>
            </a:r>
            <a:r>
              <a:rPr sz="1725" b="0" dirty="0">
                <a:solidFill>
                  <a:srgbClr val="536967"/>
                </a:solidFill>
              </a:rPr>
              <a:t>  </a:t>
            </a:r>
            <a:endParaRPr lang="pt-BR" sz="1725" b="0" dirty="0">
              <a:solidFill>
                <a:srgbClr val="536967"/>
              </a:solidFill>
            </a:endParaRPr>
          </a:p>
          <a:p>
            <a:pPr>
              <a:lnSpc>
                <a:spcPct val="110000"/>
              </a:lnSpc>
              <a:defRPr sz="1725" b="0">
                <a:solidFill>
                  <a:srgbClr val="536967"/>
                </a:solidFill>
              </a:defRPr>
            </a:pPr>
            <a:r>
              <a:rPr sz="1725" b="0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Pedidos</a:t>
            </a:r>
            <a:endParaRPr sz="1725" b="0" dirty="0">
              <a:solidFill>
                <a:srgbClr val="536967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8D7EF1F-C5C0-4906-A72D-EE7A8D216C20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285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100" b="1">
                <a:solidFill>
                  <a:srgbClr val="153B3D"/>
                </a:solidFill>
              </a:defRPr>
            </a:pPr>
            <a:r>
              <a:rPr sz="2100" b="1">
                <a:solidFill>
                  <a:srgbClr val="153B3D"/>
                </a:solidFill>
              </a:rPr>
              <a:t>Histórico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4AD3460-B0D1-49FC-9016-8C3555D6BF23}"/>
              </a:ext>
            </a:extLst>
          </p:cNvPr>
          <p:cNvSpPr>
            <a:spLocks noGrp="1"/>
          </p:cNvSpPr>
          <p:nvPr/>
        </p:nvSpPr>
        <p:spPr>
          <a:xfrm>
            <a:off x="8286750" y="215265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536967"/>
                </a:solidFill>
              </a:defRPr>
            </a:defPPr>
          </a:lstStyle>
          <a:p>
            <a:pPr>
              <a:lnSpc>
                <a:spcPct val="130000"/>
              </a:lnSpc>
              <a:defRPr sz="1725" b="0">
                <a:solidFill>
                  <a:srgbClr val="536967"/>
                </a:solidFill>
              </a:defRPr>
            </a:pPr>
            <a:r>
              <a:rPr lang="pt-BR" sz="1725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Clientes</a:t>
            </a:r>
            <a:endParaRPr sz="1725" b="0" dirty="0">
              <a:solidFill>
                <a:srgbClr val="536967"/>
              </a:solidFill>
            </a:endParaRPr>
          </a:p>
          <a:p>
            <a:pPr>
              <a:lnSpc>
                <a:spcPct val="130000"/>
              </a:lnSpc>
              <a:defRPr sz="1725" b="0">
                <a:solidFill>
                  <a:srgbClr val="536967"/>
                </a:solidFill>
              </a:defRPr>
            </a:pPr>
            <a:r>
              <a:rPr lang="pt-BR" sz="1725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Fornecedores</a:t>
            </a:r>
            <a:endParaRPr sz="1725" b="0" dirty="0">
              <a:solidFill>
                <a:srgbClr val="536967"/>
              </a:solidFill>
            </a:endParaRPr>
          </a:p>
          <a:p>
            <a:pPr>
              <a:lnSpc>
                <a:spcPct val="130000"/>
              </a:lnSpc>
              <a:defRPr sz="1725" b="0">
                <a:solidFill>
                  <a:srgbClr val="536967"/>
                </a:solidFill>
              </a:defRPr>
            </a:pPr>
            <a:r>
              <a:rPr lang="pt-BR" sz="1725" dirty="0">
                <a:solidFill>
                  <a:srgbClr val="536967"/>
                </a:solidFill>
              </a:rPr>
              <a:t>• </a:t>
            </a:r>
            <a:r>
              <a:rPr sz="1725" b="0" dirty="0" err="1">
                <a:solidFill>
                  <a:srgbClr val="536967"/>
                </a:solidFill>
              </a:rPr>
              <a:t>Produtos</a:t>
            </a:r>
            <a:endParaRPr sz="1725" b="0" dirty="0">
              <a:solidFill>
                <a:srgbClr val="536967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B9031A1-740F-4D74-83E7-3AF34928C96E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10191750" cy="19050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65ED085-C982-460A-B7A0-6836F82B40EC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0001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8000"/>
              </a:lnSpc>
              <a:buNone/>
              <a:defRPr sz="2025" b="0">
                <a:solidFill>
                  <a:srgbClr val="153B3D"/>
                </a:solidFill>
              </a:defRPr>
            </a:pPr>
            <a:r>
              <a:rPr sz="2025" b="0">
                <a:solidFill>
                  <a:srgbClr val="153B3D"/>
                </a:solidFill>
              </a:rPr>
              <a:t>Os identificadores conectam os registros: compras apontam para fornecedor e produto; pedidos apontam para cliente e produto.</a:t>
            </a:r>
          </a:p>
        </p:txBody>
      </p:sp>
    </p:spTree>
    <p:extLst>
      <p:ext uri="{BB962C8B-B14F-4D97-AF65-F5344CB8AC3E}">
        <p14:creationId xmlns:p14="http://schemas.microsoft.com/office/powerpoint/2010/main" val="139996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1BD9F1C7-667A-441F-8959-42B63404601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5FB2B5-423D-4652-93B1-E0019E70F724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Tabelas principais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CEBFC4-F13A-40CD-978A-339D39F9CCD5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E48003-15C5-439E-9B7A-809B49BEF988}"/>
              </a:ext>
            </a:extLst>
          </p:cNvPr>
          <p:cNvSpPr>
            <a:spLocks noGrp="1"/>
          </p:cNvSpPr>
          <p:nvPr/>
        </p:nvSpPr>
        <p:spPr>
          <a:xfrm>
            <a:off x="876300" y="1676399"/>
            <a:ext cx="3333750" cy="3429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275" b="1">
                <a:solidFill>
                  <a:srgbClr val="536967"/>
                </a:solidFill>
              </a:defRPr>
            </a:pPr>
            <a:r>
              <a:rPr sz="2400" b="1" dirty="0">
                <a:solidFill>
                  <a:srgbClr val="536967"/>
                </a:solidFill>
              </a:rPr>
              <a:t>CADASTROS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34E45BF-859F-48AD-81C6-1C6018FC7C19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34290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clientes</a:t>
            </a:r>
          </a:p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fornecedores</a:t>
            </a:r>
          </a:p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produtos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B0BC740-E08B-4B08-9513-A0CC7B3DE5F4}"/>
              </a:ext>
            </a:extLst>
          </p:cNvPr>
          <p:cNvSpPr>
            <a:spLocks noGrp="1"/>
          </p:cNvSpPr>
          <p:nvPr/>
        </p:nvSpPr>
        <p:spPr>
          <a:xfrm>
            <a:off x="4572000" y="16764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275" b="1">
                <a:solidFill>
                  <a:srgbClr val="536967"/>
                </a:solidFill>
              </a:defRPr>
            </a:pPr>
            <a:r>
              <a:rPr sz="2400" b="1" dirty="0">
                <a:solidFill>
                  <a:srgbClr val="536967"/>
                </a:solidFill>
              </a:rPr>
              <a:t>OPERAÇÕES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ECD7AB8-8885-4F8D-BB35-7FA0EDE91BB5}"/>
              </a:ext>
            </a:extLst>
          </p:cNvPr>
          <p:cNvSpPr>
            <a:spLocks noGrp="1"/>
          </p:cNvSpPr>
          <p:nvPr/>
        </p:nvSpPr>
        <p:spPr>
          <a:xfrm>
            <a:off x="4572000" y="2171700"/>
            <a:ext cx="34290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compras</a:t>
            </a:r>
          </a:p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pedidos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F03F2E-6A41-4E02-9E2F-0DBC1E5DFAAA}"/>
              </a:ext>
            </a:extLst>
          </p:cNvPr>
          <p:cNvSpPr>
            <a:spLocks noGrp="1"/>
          </p:cNvSpPr>
          <p:nvPr/>
        </p:nvSpPr>
        <p:spPr>
          <a:xfrm>
            <a:off x="7810500" y="16764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275" b="1">
                <a:solidFill>
                  <a:srgbClr val="536967"/>
                </a:solidFill>
              </a:defRPr>
            </a:pPr>
            <a:r>
              <a:rPr sz="2400" b="1" dirty="0">
                <a:solidFill>
                  <a:srgbClr val="536967"/>
                </a:solidFill>
              </a:rPr>
              <a:t>HISTÓRICOS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A5A15E-5326-49C8-95E9-8970EAE6D443}"/>
              </a:ext>
            </a:extLst>
          </p:cNvPr>
          <p:cNvSpPr>
            <a:spLocks noGrp="1"/>
          </p:cNvSpPr>
          <p:nvPr/>
        </p:nvSpPr>
        <p:spPr>
          <a:xfrm>
            <a:off x="7810500" y="2171700"/>
            <a:ext cx="34290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tmp_historico_clientes</a:t>
            </a:r>
          </a:p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tmp_historico_fornecedores</a:t>
            </a:r>
          </a:p>
          <a:p>
            <a:pPr algn="l">
              <a:lnSpc>
                <a:spcPct val="140000"/>
              </a:lnSpc>
              <a:buNone/>
              <a:defRPr sz="1875" b="1">
                <a:solidFill>
                  <a:srgbClr val="153B3D"/>
                </a:solidFill>
              </a:defRPr>
            </a:pPr>
            <a:r>
              <a:rPr sz="1875" b="1">
                <a:solidFill>
                  <a:srgbClr val="153B3D"/>
                </a:solidFill>
              </a:rPr>
              <a:t>tmp_historico_produtos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9104453-E184-4DB2-A13C-D4692D1A3A98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10191750" cy="19050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41FDC67-06D5-4138-98BF-C0088D5A0D19}"/>
              </a:ext>
            </a:extLst>
          </p:cNvPr>
          <p:cNvSpPr>
            <a:spLocks noGrp="1"/>
          </p:cNvSpPr>
          <p:nvPr/>
        </p:nvSpPr>
        <p:spPr>
          <a:xfrm>
            <a:off x="876300" y="4676775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325" b="1">
                <a:solidFill>
                  <a:srgbClr val="153B3D"/>
                </a:solidFill>
              </a:defRPr>
            </a:pPr>
            <a:r>
              <a:rPr sz="2325" b="1">
                <a:solidFill>
                  <a:srgbClr val="153B3D"/>
                </a:solidFill>
              </a:rPr>
              <a:t>Cada tabela concentra um tipo de informação.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9ACBAC0-0EE4-4A83-BCE6-AE588647FFFE}"/>
              </a:ext>
            </a:extLst>
          </p:cNvPr>
          <p:cNvSpPr>
            <a:spLocks noGrp="1"/>
          </p:cNvSpPr>
          <p:nvPr/>
        </p:nvSpPr>
        <p:spPr>
          <a:xfrm>
            <a:off x="876300" y="5305424"/>
            <a:ext cx="1001522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650" b="0">
                <a:solidFill>
                  <a:srgbClr val="536967"/>
                </a:solidFill>
              </a:defRPr>
            </a:pPr>
            <a:r>
              <a:rPr sz="2400" b="0" dirty="0" err="1">
                <a:solidFill>
                  <a:srgbClr val="536967"/>
                </a:solidFill>
              </a:rPr>
              <a:t>Produtos</a:t>
            </a:r>
            <a:r>
              <a:rPr sz="2400" b="0" dirty="0">
                <a:solidFill>
                  <a:srgbClr val="536967"/>
                </a:solidFill>
              </a:rPr>
              <a:t> </a:t>
            </a:r>
            <a:r>
              <a:rPr sz="2400" b="0" dirty="0" err="1">
                <a:solidFill>
                  <a:srgbClr val="536967"/>
                </a:solidFill>
              </a:rPr>
              <a:t>guarda</a:t>
            </a:r>
            <a:r>
              <a:rPr sz="2400" b="0" dirty="0">
                <a:solidFill>
                  <a:srgbClr val="536967"/>
                </a:solidFill>
              </a:rPr>
              <a:t> </a:t>
            </a:r>
            <a:r>
              <a:rPr sz="2400" b="0" dirty="0" err="1">
                <a:solidFill>
                  <a:srgbClr val="536967"/>
                </a:solidFill>
              </a:rPr>
              <a:t>preço</a:t>
            </a:r>
            <a:r>
              <a:rPr sz="2400" b="0" dirty="0">
                <a:solidFill>
                  <a:srgbClr val="536967"/>
                </a:solidFill>
              </a:rPr>
              <a:t> e estoque; </a:t>
            </a:r>
            <a:r>
              <a:rPr sz="2400" b="0" dirty="0" err="1">
                <a:solidFill>
                  <a:srgbClr val="536967"/>
                </a:solidFill>
              </a:rPr>
              <a:t>compras</a:t>
            </a:r>
            <a:r>
              <a:rPr sz="2400" b="0" dirty="0">
                <a:solidFill>
                  <a:srgbClr val="536967"/>
                </a:solidFill>
              </a:rPr>
              <a:t> </a:t>
            </a:r>
            <a:r>
              <a:rPr sz="2400" b="0" dirty="0" err="1">
                <a:solidFill>
                  <a:srgbClr val="536967"/>
                </a:solidFill>
              </a:rPr>
              <a:t>registra</a:t>
            </a:r>
            <a:r>
              <a:rPr sz="2400" b="0" dirty="0">
                <a:solidFill>
                  <a:srgbClr val="536967"/>
                </a:solidFill>
              </a:rPr>
              <a:t> entradas; </a:t>
            </a:r>
            <a:r>
              <a:rPr sz="2400" b="0" dirty="0" err="1">
                <a:solidFill>
                  <a:srgbClr val="536967"/>
                </a:solidFill>
              </a:rPr>
              <a:t>pedidos</a:t>
            </a:r>
            <a:r>
              <a:rPr sz="2400" b="0" dirty="0">
                <a:solidFill>
                  <a:srgbClr val="536967"/>
                </a:solidFill>
              </a:rPr>
              <a:t> </a:t>
            </a:r>
            <a:r>
              <a:rPr sz="2400" b="0" dirty="0" err="1">
                <a:solidFill>
                  <a:srgbClr val="536967"/>
                </a:solidFill>
              </a:rPr>
              <a:t>registra</a:t>
            </a:r>
            <a:r>
              <a:rPr sz="2400" b="0" dirty="0">
                <a:solidFill>
                  <a:srgbClr val="536967"/>
                </a:solidFill>
              </a:rPr>
              <a:t> </a:t>
            </a:r>
            <a:r>
              <a:rPr sz="2400" b="0" dirty="0" err="1">
                <a:solidFill>
                  <a:srgbClr val="536967"/>
                </a:solidFill>
              </a:rPr>
              <a:t>vendas</a:t>
            </a:r>
            <a:r>
              <a:rPr sz="2400" b="0" dirty="0">
                <a:solidFill>
                  <a:srgbClr val="536967"/>
                </a:solidFill>
              </a:rPr>
              <a:t> </a:t>
            </a:r>
            <a:r>
              <a:rPr sz="2400" b="0" dirty="0" err="1">
                <a:solidFill>
                  <a:srgbClr val="536967"/>
                </a:solidFill>
              </a:rPr>
              <a:t>realizadas</a:t>
            </a:r>
            <a:r>
              <a:rPr sz="2400" b="0" dirty="0">
                <a:solidFill>
                  <a:srgbClr val="53696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105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685665F-F1CD-4252-BEE0-DC4D614EF62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37E2E21-420E-46BC-B11B-054C902729DF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Stored procedures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B26939-5DF0-4CF7-AF2C-D3EDB977AED9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D24B047-956B-4EAA-BE30-65970667D309}"/>
              </a:ext>
            </a:extLst>
          </p:cNvPr>
          <p:cNvSpPr>
            <a:spLocks noGrp="1"/>
          </p:cNvSpPr>
          <p:nvPr/>
        </p:nvSpPr>
        <p:spPr>
          <a:xfrm>
            <a:off x="876300" y="148590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550" b="1">
                <a:solidFill>
                  <a:srgbClr val="153B3D"/>
                </a:solidFill>
              </a:defRPr>
            </a:pPr>
            <a:r>
              <a:rPr sz="2550" b="1">
                <a:solidFill>
                  <a:srgbClr val="153B3D"/>
                </a:solidFill>
              </a:rPr>
              <a:t>9 procedimentos armazenados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6924F1-61B5-4E4D-A1EA-58D285B8BFB7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1350" b="1">
                <a:solidFill>
                  <a:srgbClr val="536967"/>
                </a:solidFill>
              </a:rPr>
              <a:t>Cadastro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4B887B-CF9E-4037-8CE2-45207CD46597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 dirty="0" err="1">
                <a:solidFill>
                  <a:srgbClr val="153B3D"/>
                </a:solidFill>
              </a:rPr>
              <a:t>p_inserir_cliente</a:t>
            </a:r>
            <a:r>
              <a:rPr sz="1575" b="0" dirty="0">
                <a:solidFill>
                  <a:srgbClr val="153B3D"/>
                </a:solidFill>
              </a:rPr>
              <a:t> </a:t>
            </a:r>
            <a:endParaRPr lang="pt-BR" sz="1575" dirty="0">
              <a:solidFill>
                <a:srgbClr val="153B3D"/>
              </a:solidFill>
            </a:endParaRPr>
          </a:p>
          <a:p>
            <a:pPr algn="l">
              <a:lnSpc>
                <a:spcPct val="130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 dirty="0" err="1">
                <a:solidFill>
                  <a:srgbClr val="153B3D"/>
                </a:solidFill>
              </a:rPr>
              <a:t>p_inserir_fornecedor</a:t>
            </a:r>
            <a:endParaRPr sz="1575" b="0" dirty="0">
              <a:solidFill>
                <a:srgbClr val="153B3D"/>
              </a:solidFill>
            </a:endParaRPr>
          </a:p>
          <a:p>
            <a:pPr algn="l">
              <a:lnSpc>
                <a:spcPct val="130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 dirty="0" err="1">
                <a:solidFill>
                  <a:srgbClr val="153B3D"/>
                </a:solidFill>
              </a:rPr>
              <a:t>p_inserir_produto</a:t>
            </a:r>
            <a:endParaRPr sz="1575" b="0" dirty="0">
              <a:solidFill>
                <a:srgbClr val="153B3D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75C60BA-ACEF-4CDD-AE9C-C28A7D71D659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1350" b="1">
                <a:solidFill>
                  <a:srgbClr val="536967"/>
                </a:solidFill>
              </a:rPr>
              <a:t>Operações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947D400-B5C2-4921-AA8E-16E17B302C99}"/>
              </a:ext>
            </a:extLst>
          </p:cNvPr>
          <p:cNvSpPr>
            <a:spLocks noGrp="1"/>
          </p:cNvSpPr>
          <p:nvPr/>
        </p:nvSpPr>
        <p:spPr>
          <a:xfrm>
            <a:off x="6191250" y="2781300"/>
            <a:ext cx="4762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 dirty="0" err="1">
                <a:solidFill>
                  <a:srgbClr val="153B3D"/>
                </a:solidFill>
              </a:rPr>
              <a:t>p_inserir_compra</a:t>
            </a:r>
            <a:endParaRPr lang="pt-BR" sz="1575" dirty="0">
              <a:solidFill>
                <a:srgbClr val="153B3D"/>
              </a:solidFill>
            </a:endParaRPr>
          </a:p>
          <a:p>
            <a:pPr algn="l">
              <a:lnSpc>
                <a:spcPct val="130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lang="pt-BR" sz="1575" b="0" dirty="0" err="1">
                <a:solidFill>
                  <a:srgbClr val="153B3D"/>
                </a:solidFill>
              </a:rPr>
              <a:t>p_inserir_pedido</a:t>
            </a:r>
            <a:endParaRPr lang="pt-BR" sz="1575" b="0" dirty="0">
              <a:solidFill>
                <a:srgbClr val="153B3D"/>
              </a:solidFill>
            </a:endParaRPr>
          </a:p>
          <a:p>
            <a:pPr algn="l">
              <a:lnSpc>
                <a:spcPct val="130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 dirty="0" err="1">
                <a:solidFill>
                  <a:srgbClr val="153B3D"/>
                </a:solidFill>
              </a:rPr>
              <a:t>sp_registrar_compras</a:t>
            </a:r>
            <a:endParaRPr sz="1575" b="0" dirty="0">
              <a:solidFill>
                <a:srgbClr val="153B3D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6E4456-4360-422A-AC34-38E62373B015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1350" b="1">
                <a:solidFill>
                  <a:srgbClr val="536967"/>
                </a:solidFill>
              </a:rPr>
              <a:t>Atualização e consultas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ADE17CF-503D-420F-BA02-87864BB1BD31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28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>
                <a:solidFill>
                  <a:srgbClr val="153B3D"/>
                </a:solidFill>
              </a:rPr>
              <a:t>sp_atualizar_estoque_valor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>
                <a:solidFill>
                  <a:srgbClr val="153B3D"/>
                </a:solidFill>
              </a:rPr>
              <a:t>sp_compras_por_fornecedor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153B3D"/>
                </a:solidFill>
              </a:defRPr>
            </a:pPr>
            <a:r>
              <a:rPr sz="1575" b="0">
                <a:solidFill>
                  <a:srgbClr val="153B3D"/>
                </a:solidFill>
              </a:rPr>
              <a:t>sp_consultar_historico_produto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71F973A-32DE-48D4-9BEE-1D43ADEFCEF6}"/>
              </a:ext>
            </a:extLst>
          </p:cNvPr>
          <p:cNvSpPr>
            <a:spLocks noGrp="1"/>
          </p:cNvSpPr>
          <p:nvPr/>
        </p:nvSpPr>
        <p:spPr>
          <a:xfrm>
            <a:off x="6191250" y="4229100"/>
            <a:ext cx="4762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20000"/>
              </a:lnSpc>
              <a:buNone/>
              <a:defRPr sz="1800" b="0">
                <a:solidFill>
                  <a:srgbClr val="153B3D"/>
                </a:solidFill>
              </a:defRPr>
            </a:pPr>
            <a:r>
              <a:rPr sz="1800" b="0">
                <a:solidFill>
                  <a:srgbClr val="153B3D"/>
                </a:solidFill>
              </a:rPr>
              <a:t>Uma procedure guarda comandos SQL para executar uma tarefa quando chamada, podendo receber parâmetros.</a:t>
            </a:r>
          </a:p>
        </p:txBody>
      </p:sp>
    </p:spTree>
    <p:extLst>
      <p:ext uri="{BB962C8B-B14F-4D97-AF65-F5344CB8AC3E}">
        <p14:creationId xmlns:p14="http://schemas.microsoft.com/office/powerpoint/2010/main" val="149985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8681DC7-23C7-4C1F-A99F-0534C7A6FF4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AAAC8C-918C-45F9-BC6A-9AE4044FC699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Views para consultas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6FE6C3-FFA7-4424-B726-6CAD96D8CD53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754372C-01A7-481E-82DA-EE9E21E7176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85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850" b="1">
                <a:solidFill>
                  <a:srgbClr val="153B3D"/>
                </a:solidFill>
              </a:defRPr>
            </a:pPr>
            <a:r>
              <a:rPr sz="2850" b="1">
                <a:solidFill>
                  <a:srgbClr val="153B3D"/>
                </a:solidFill>
              </a:rPr>
              <a:t>4 views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569475-DFBD-4768-B300-1468F2BF4257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5619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45000"/>
              </a:lnSpc>
              <a:buNone/>
              <a:defRPr sz="1800" b="0">
                <a:solidFill>
                  <a:srgbClr val="153B3D"/>
                </a:solidFill>
              </a:defRPr>
            </a:pPr>
            <a:r>
              <a:rPr sz="1800" b="0">
                <a:solidFill>
                  <a:srgbClr val="153B3D"/>
                </a:solidFill>
              </a:rPr>
              <a:t>Fornecedores com mais vendas</a:t>
            </a:r>
          </a:p>
          <a:p>
            <a:pPr algn="l">
              <a:lnSpc>
                <a:spcPct val="145000"/>
              </a:lnSpc>
              <a:buNone/>
              <a:defRPr sz="1800" b="0">
                <a:solidFill>
                  <a:srgbClr val="153B3D"/>
                </a:solidFill>
              </a:defRPr>
            </a:pPr>
            <a:r>
              <a:rPr sz="1800" b="0">
                <a:solidFill>
                  <a:srgbClr val="153B3D"/>
                </a:solidFill>
              </a:rPr>
              <a:t>Pedidos acima do valor médio</a:t>
            </a:r>
          </a:p>
          <a:p>
            <a:pPr algn="l">
              <a:lnSpc>
                <a:spcPct val="145000"/>
              </a:lnSpc>
              <a:buNone/>
              <a:defRPr sz="1800" b="0">
                <a:solidFill>
                  <a:srgbClr val="153B3D"/>
                </a:solidFill>
              </a:defRPr>
            </a:pPr>
            <a:r>
              <a:rPr sz="1800" b="0">
                <a:solidFill>
                  <a:srgbClr val="153B3D"/>
                </a:solidFill>
              </a:rPr>
              <a:t>Produtos mais vendidos no último mês</a:t>
            </a:r>
          </a:p>
          <a:p>
            <a:pPr algn="l">
              <a:lnSpc>
                <a:spcPct val="145000"/>
              </a:lnSpc>
              <a:buNone/>
              <a:defRPr sz="1800" b="0">
                <a:solidFill>
                  <a:srgbClr val="153B3D"/>
                </a:solidFill>
              </a:defRPr>
            </a:pPr>
            <a:r>
              <a:rPr sz="1800" b="0">
                <a:solidFill>
                  <a:srgbClr val="153B3D"/>
                </a:solidFill>
              </a:rPr>
              <a:t>Total de vendas por cliente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FE32AEB-D720-42FC-A4A2-DF2C939C1007}"/>
              </a:ext>
            </a:extLst>
          </p:cNvPr>
          <p:cNvSpPr>
            <a:spLocks noGrp="1"/>
          </p:cNvSpPr>
          <p:nvPr/>
        </p:nvSpPr>
        <p:spPr>
          <a:xfrm>
            <a:off x="7067550" y="1676400"/>
            <a:ext cx="19050" cy="3619500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62D597-FABB-4612-B7D6-3D1ABD78FDDB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025" b="1">
                <a:solidFill>
                  <a:srgbClr val="153B3D"/>
                </a:solidFill>
              </a:defRPr>
            </a:pPr>
            <a:r>
              <a:rPr sz="2025" b="1">
                <a:solidFill>
                  <a:srgbClr val="153B3D"/>
                </a:solidFill>
              </a:rPr>
              <a:t>Por que usar?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2264E7-B043-4652-937C-0966AD0B5043}"/>
              </a:ext>
            </a:extLst>
          </p:cNvPr>
          <p:cNvSpPr>
            <a:spLocks noGrp="1"/>
          </p:cNvSpPr>
          <p:nvPr/>
        </p:nvSpPr>
        <p:spPr>
          <a:xfrm>
            <a:off x="7524750" y="2438400"/>
            <a:ext cx="3333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25000"/>
              </a:lnSpc>
              <a:buNone/>
              <a:defRPr sz="1800" b="0">
                <a:solidFill>
                  <a:srgbClr val="536967"/>
                </a:solidFill>
              </a:defRPr>
            </a:pPr>
            <a:r>
              <a:rPr sz="1800" b="0">
                <a:solidFill>
                  <a:srgbClr val="536967"/>
                </a:solidFill>
              </a:rPr>
              <a:t>As views salvam consultas que combinam tabelas e facilitam análises recorrentes sem reescrever todo o SQL.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65BE777-22D1-4AAB-9905-3272827FADD0}"/>
              </a:ext>
            </a:extLst>
          </p:cNvPr>
          <p:cNvSpPr>
            <a:spLocks noGrp="1"/>
          </p:cNvSpPr>
          <p:nvPr/>
        </p:nvSpPr>
        <p:spPr>
          <a:xfrm>
            <a:off x="876300" y="5381625"/>
            <a:ext cx="1019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0">
                <a:solidFill>
                  <a:srgbClr val="536967"/>
                </a:solidFill>
              </a:defRPr>
            </a:pPr>
            <a:r>
              <a:rPr sz="1350" b="0">
                <a:solidFill>
                  <a:srgbClr val="536967"/>
                </a:solidFill>
              </a:rPr>
              <a:t>Clientes  •  Fornecedores  •  Compras  •  Pedidos  •  Produtos</a:t>
            </a:r>
          </a:p>
        </p:txBody>
      </p:sp>
    </p:spTree>
    <p:extLst>
      <p:ext uri="{BB962C8B-B14F-4D97-AF65-F5344CB8AC3E}">
        <p14:creationId xmlns:p14="http://schemas.microsoft.com/office/powerpoint/2010/main" val="40318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5BE02E56-27DF-44B5-BE62-FE5FA536140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848F298-F8E2-42D1-88FA-3155A72A3554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Triggers e atualização de estoque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C47A890-440B-431C-BE87-438C73080062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5CE338-C751-4632-BB37-BA97B71F8571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7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700" b="1">
                <a:solidFill>
                  <a:srgbClr val="153B3D"/>
                </a:solidFill>
              </a:defRPr>
            </a:pPr>
            <a:r>
              <a:rPr sz="2700" b="1">
                <a:solidFill>
                  <a:srgbClr val="153B3D"/>
                </a:solidFill>
              </a:rPr>
              <a:t>5 triggers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6C86D3-7883-4BBC-BD28-36A144473761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536967"/>
                </a:solidFill>
              </a:defRPr>
            </a:pPr>
            <a:r>
              <a:rPr sz="1650" b="1">
                <a:solidFill>
                  <a:srgbClr val="536967"/>
                </a:solidFill>
              </a:rPr>
              <a:t>Entrada de compra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673B73-1BB5-4EB1-9FF6-56E273B60519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400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35000"/>
              </a:lnSpc>
              <a:buNone/>
              <a:defRPr sz="1875" b="0">
                <a:solidFill>
                  <a:srgbClr val="153B3D"/>
                </a:solidFill>
              </a:defRPr>
            </a:pPr>
            <a:r>
              <a:rPr sz="1875" b="0">
                <a:solidFill>
                  <a:srgbClr val="153B3D"/>
                </a:solidFill>
              </a:rPr>
              <a:t>Compra registrada</a:t>
            </a: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153B3D"/>
                </a:solidFill>
              </a:defRPr>
            </a:pPr>
            <a:r>
              <a:rPr sz="1875" b="0">
                <a:solidFill>
                  <a:srgbClr val="153B3D"/>
                </a:solidFill>
              </a:rPr>
              <a:t>→ soma unidades ao estoque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A8E10A8-71B5-4846-A32C-7071D31F2B67}"/>
              </a:ext>
            </a:extLst>
          </p:cNvPr>
          <p:cNvSpPr>
            <a:spLocks noGrp="1"/>
          </p:cNvSpPr>
          <p:nvPr/>
        </p:nvSpPr>
        <p:spPr>
          <a:xfrm>
            <a:off x="6096000" y="24574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536967"/>
                </a:solidFill>
              </a:defRPr>
            </a:pPr>
            <a:r>
              <a:rPr sz="1650" b="1">
                <a:solidFill>
                  <a:srgbClr val="536967"/>
                </a:solidFill>
              </a:rPr>
              <a:t>Pedido de venda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5A4BFA9-FB72-4F0F-ADC1-9A865FE64FB4}"/>
              </a:ext>
            </a:extLst>
          </p:cNvPr>
          <p:cNvSpPr>
            <a:spLocks noGrp="1"/>
          </p:cNvSpPr>
          <p:nvPr/>
        </p:nvSpPr>
        <p:spPr>
          <a:xfrm>
            <a:off x="6096000" y="2971800"/>
            <a:ext cx="4381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35000"/>
              </a:lnSpc>
              <a:buNone/>
              <a:defRPr sz="1875" b="0">
                <a:solidFill>
                  <a:srgbClr val="153B3D"/>
                </a:solidFill>
              </a:defRPr>
            </a:pPr>
            <a:r>
              <a:rPr sz="1875" b="0">
                <a:solidFill>
                  <a:srgbClr val="153B3D"/>
                </a:solidFill>
              </a:rPr>
              <a:t>Pedido inserido</a:t>
            </a:r>
          </a:p>
          <a:p>
            <a:pPr algn="l">
              <a:lnSpc>
                <a:spcPct val="135000"/>
              </a:lnSpc>
              <a:buNone/>
              <a:defRPr sz="1875" b="0">
                <a:solidFill>
                  <a:srgbClr val="153B3D"/>
                </a:solidFill>
              </a:defRPr>
            </a:pPr>
            <a:r>
              <a:rPr sz="1875" b="0">
                <a:solidFill>
                  <a:srgbClr val="153B3D"/>
                </a:solidFill>
              </a:rPr>
              <a:t>→ subtrai unidades do estoque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A904E4-EAED-456F-8AAD-47449E4A1A90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0191750" cy="19050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CEDDD5D-483B-4209-963B-5623DE2CEF37}"/>
              </a:ext>
            </a:extLst>
          </p:cNvPr>
          <p:cNvSpPr>
            <a:spLocks noGrp="1"/>
          </p:cNvSpPr>
          <p:nvPr/>
        </p:nvSpPr>
        <p:spPr>
          <a:xfrm>
            <a:off x="876300" y="46101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536967"/>
                </a:solidFill>
              </a:defRPr>
            </a:pPr>
            <a:r>
              <a:rPr sz="1650" b="1">
                <a:solidFill>
                  <a:srgbClr val="536967"/>
                </a:solidFill>
              </a:rPr>
              <a:t>Histórico de alterações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4BBB610-B5BD-4611-B9E9-E6C45AD61140}"/>
              </a:ext>
            </a:extLst>
          </p:cNvPr>
          <p:cNvSpPr>
            <a:spLocks noGrp="1"/>
          </p:cNvSpPr>
          <p:nvPr/>
        </p:nvSpPr>
        <p:spPr>
          <a:xfrm>
            <a:off x="876300" y="5095875"/>
            <a:ext cx="990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153B3D"/>
                </a:solidFill>
              </a:defRPr>
            </a:pPr>
            <a:r>
              <a:rPr sz="1800" b="0">
                <a:solidFill>
                  <a:srgbClr val="153B3D"/>
                </a:solidFill>
              </a:rPr>
              <a:t>Antes de alterar clientes, fornecedores ou produtos, as triggers registram os dados anteriores.</a:t>
            </a:r>
          </a:p>
        </p:txBody>
      </p:sp>
    </p:spTree>
    <p:extLst>
      <p:ext uri="{BB962C8B-B14F-4D97-AF65-F5344CB8AC3E}">
        <p14:creationId xmlns:p14="http://schemas.microsoft.com/office/powerpoint/2010/main" val="205463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DC4C2465-D811-41ED-A79D-E9377D9BF25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3F25DAF-AD0D-4F87-9B8A-46CF0138BAC3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28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3300" b="1">
                <a:solidFill>
                  <a:srgbClr val="153B3D"/>
                </a:solidFill>
              </a:rPr>
              <a:t>O papel de cada recurso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69F3354-A9D8-44D8-AC3E-47CE8B8184D4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7E17D88-8746-44F3-AA6D-65EDEF41B3B2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196342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3200" b="1" dirty="0">
                <a:solidFill>
                  <a:srgbClr val="536967"/>
                </a:solidFill>
              </a:rPr>
              <a:t>TABELAS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AAD44A-DD39-43C7-88C9-AA21D677A500}"/>
              </a:ext>
            </a:extLst>
          </p:cNvPr>
          <p:cNvSpPr>
            <a:spLocks noGrp="1"/>
          </p:cNvSpPr>
          <p:nvPr/>
        </p:nvSpPr>
        <p:spPr>
          <a:xfrm>
            <a:off x="876300" y="262001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325" b="1">
                <a:solidFill>
                  <a:srgbClr val="153B3D"/>
                </a:solidFill>
              </a:defRPr>
            </a:pPr>
            <a:r>
              <a:rPr sz="2325" b="1" dirty="0" err="1">
                <a:solidFill>
                  <a:srgbClr val="153B3D"/>
                </a:solidFill>
              </a:rPr>
              <a:t>armazenam</a:t>
            </a:r>
            <a:endParaRPr sz="2325" b="1" dirty="0">
              <a:solidFill>
                <a:srgbClr val="153B3D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C7C868-C61F-417B-AFBE-1AD97CEA2CB4}"/>
              </a:ext>
            </a:extLst>
          </p:cNvPr>
          <p:cNvSpPr>
            <a:spLocks noGrp="1"/>
          </p:cNvSpPr>
          <p:nvPr/>
        </p:nvSpPr>
        <p:spPr>
          <a:xfrm>
            <a:off x="3124200" y="2236470"/>
            <a:ext cx="2905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3200" b="1" dirty="0">
                <a:solidFill>
                  <a:srgbClr val="536967"/>
                </a:solidFill>
              </a:rPr>
              <a:t>PROCEDURES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EEFDF8-71E7-4B1D-8039-8ED190A82E31}"/>
              </a:ext>
            </a:extLst>
          </p:cNvPr>
          <p:cNvSpPr>
            <a:spLocks noGrp="1"/>
          </p:cNvSpPr>
          <p:nvPr/>
        </p:nvSpPr>
        <p:spPr>
          <a:xfrm>
            <a:off x="3181350" y="2581275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325" b="1">
                <a:solidFill>
                  <a:srgbClr val="153B3D"/>
                </a:solidFill>
              </a:defRPr>
            </a:pPr>
            <a:r>
              <a:rPr sz="2325" b="1" dirty="0" err="1">
                <a:solidFill>
                  <a:srgbClr val="153B3D"/>
                </a:solidFill>
              </a:rPr>
              <a:t>executam</a:t>
            </a:r>
            <a:endParaRPr sz="2325" b="1" dirty="0">
              <a:solidFill>
                <a:srgbClr val="153B3D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A74F399-5B93-4D93-93C2-C3B5BDBDA211}"/>
              </a:ext>
            </a:extLst>
          </p:cNvPr>
          <p:cNvSpPr>
            <a:spLocks noGrp="1"/>
          </p:cNvSpPr>
          <p:nvPr/>
        </p:nvSpPr>
        <p:spPr>
          <a:xfrm>
            <a:off x="6096000" y="2343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3200" b="1" dirty="0">
                <a:solidFill>
                  <a:srgbClr val="536967"/>
                </a:solidFill>
              </a:rPr>
              <a:t>VIEWS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35A9DB2-26E4-42FB-878C-69006DE87C95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325" b="1">
                <a:solidFill>
                  <a:srgbClr val="153B3D"/>
                </a:solidFill>
              </a:defRPr>
            </a:pPr>
            <a:r>
              <a:rPr sz="2325" b="1">
                <a:solidFill>
                  <a:srgbClr val="153B3D"/>
                </a:solidFill>
              </a:rPr>
              <a:t>consultam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9426A52-D06D-46F3-B5E8-EC032684C28F}"/>
              </a:ext>
            </a:extLst>
          </p:cNvPr>
          <p:cNvSpPr>
            <a:spLocks noGrp="1"/>
          </p:cNvSpPr>
          <p:nvPr/>
        </p:nvSpPr>
        <p:spPr>
          <a:xfrm>
            <a:off x="8667750" y="2343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1350" b="1">
                <a:solidFill>
                  <a:srgbClr val="536967"/>
                </a:solidFill>
              </a:defRPr>
            </a:pPr>
            <a:r>
              <a:rPr sz="3200" b="1" dirty="0">
                <a:solidFill>
                  <a:srgbClr val="536967"/>
                </a:solidFill>
              </a:rPr>
              <a:t>TRIGGERS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BF8CA-FFB9-44FC-8ED7-0ABF63075E44}"/>
              </a:ext>
            </a:extLst>
          </p:cNvPr>
          <p:cNvSpPr>
            <a:spLocks noGrp="1"/>
          </p:cNvSpPr>
          <p:nvPr/>
        </p:nvSpPr>
        <p:spPr>
          <a:xfrm>
            <a:off x="8734425" y="257175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325" b="1">
                <a:solidFill>
                  <a:srgbClr val="153B3D"/>
                </a:solidFill>
              </a:defRPr>
            </a:pPr>
            <a:r>
              <a:rPr sz="2325" b="1">
                <a:solidFill>
                  <a:srgbClr val="153B3D"/>
                </a:solidFill>
              </a:rPr>
              <a:t>automatizam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F37203F-9EED-40B5-9057-ADA2A75DC747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10191750" cy="19050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CE4971F-F415-4D8E-A739-F72AB2F06719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9906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175" b="0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22000"/>
              </a:lnSpc>
              <a:buNone/>
              <a:defRPr sz="2175" b="0">
                <a:solidFill>
                  <a:srgbClr val="153B3D"/>
                </a:solidFill>
              </a:defRPr>
            </a:pPr>
            <a:r>
              <a:rPr sz="2175" b="0">
                <a:solidFill>
                  <a:srgbClr val="153B3D"/>
                </a:solidFill>
              </a:rPr>
              <a:t>Em conjunto, esses recursos organizam os dados, apoiam as operações e mantêm o estoque e os históricos atualizados.</a:t>
            </a:r>
          </a:p>
        </p:txBody>
      </p:sp>
    </p:spTree>
    <p:extLst>
      <p:ext uri="{BB962C8B-B14F-4D97-AF65-F5344CB8AC3E}">
        <p14:creationId xmlns:p14="http://schemas.microsoft.com/office/powerpoint/2010/main" val="23346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7A5F6EE9-9CEF-4C3C-9272-3DD655BB309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514350"/>
          </a:xfrm>
          <a:prstGeom prst="rect">
            <a:avLst/>
          </a:prstGeom>
          <a:solidFill>
            <a:srgbClr val="A9D8C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70709C-EF98-4D62-8E66-4EF222E51B8B}"/>
              </a:ext>
            </a:extLst>
          </p:cNvPr>
          <p:cNvSpPr>
            <a:spLocks noGrp="1"/>
          </p:cNvSpPr>
          <p:nvPr/>
        </p:nvSpPr>
        <p:spPr>
          <a:xfrm>
            <a:off x="952500" y="647700"/>
            <a:ext cx="1099566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30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3300" b="1">
                <a:solidFill>
                  <a:srgbClr val="153B3D"/>
                </a:solidFill>
              </a:defRPr>
            </a:pPr>
            <a:r>
              <a:rPr sz="6000" b="1" dirty="0" err="1">
                <a:solidFill>
                  <a:srgbClr val="153B3D"/>
                </a:solidFill>
              </a:rPr>
              <a:t>Conclusão</a:t>
            </a:r>
            <a:endParaRPr sz="6000" b="1" dirty="0">
              <a:solidFill>
                <a:srgbClr val="153B3D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39E4309-6412-481B-A8EF-613E9C9F7871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9525"/>
          </a:xfrm>
          <a:prstGeom prst="rect">
            <a:avLst/>
          </a:prstGeom>
          <a:solidFill>
            <a:srgbClr val="CBD6D0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CE80415-376C-471F-B34E-BCBE84E79675}"/>
              </a:ext>
            </a:extLst>
          </p:cNvPr>
          <p:cNvSpPr>
            <a:spLocks noGrp="1"/>
          </p:cNvSpPr>
          <p:nvPr/>
        </p:nvSpPr>
        <p:spPr>
          <a:xfrm>
            <a:off x="723900" y="2434907"/>
            <a:ext cx="1111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153B3D"/>
                </a:solidFill>
              </a:defRPr>
            </a:defPPr>
          </a:lstStyle>
          <a:p>
            <a:pPr algn="l">
              <a:lnSpc>
                <a:spcPct val="110000"/>
              </a:lnSpc>
              <a:buNone/>
              <a:defRPr sz="2550" b="1">
                <a:solidFill>
                  <a:srgbClr val="153B3D"/>
                </a:solidFill>
              </a:defRPr>
            </a:pPr>
            <a:r>
              <a:rPr sz="3200" b="1" dirty="0">
                <a:solidFill>
                  <a:srgbClr val="153B3D"/>
                </a:solidFill>
              </a:rPr>
              <a:t>O </a:t>
            </a:r>
            <a:r>
              <a:rPr sz="3200" b="1" dirty="0" err="1">
                <a:solidFill>
                  <a:srgbClr val="153B3D"/>
                </a:solidFill>
              </a:rPr>
              <a:t>projeto</a:t>
            </a:r>
            <a:r>
              <a:rPr sz="3200" b="1" dirty="0">
                <a:solidFill>
                  <a:srgbClr val="153B3D"/>
                </a:solidFill>
              </a:rPr>
              <a:t> </a:t>
            </a:r>
            <a:r>
              <a:rPr sz="3200" b="1" dirty="0" err="1">
                <a:solidFill>
                  <a:srgbClr val="153B3D"/>
                </a:solidFill>
              </a:rPr>
              <a:t>aplica</a:t>
            </a:r>
            <a:r>
              <a:rPr sz="3200" b="1" dirty="0">
                <a:solidFill>
                  <a:srgbClr val="153B3D"/>
                </a:solidFill>
              </a:rPr>
              <a:t> </a:t>
            </a:r>
            <a:r>
              <a:rPr sz="3200" b="1" dirty="0" err="1">
                <a:solidFill>
                  <a:srgbClr val="153B3D"/>
                </a:solidFill>
              </a:rPr>
              <a:t>conceitos</a:t>
            </a:r>
            <a:r>
              <a:rPr sz="3200" b="1" dirty="0">
                <a:solidFill>
                  <a:srgbClr val="153B3D"/>
                </a:solidFill>
              </a:rPr>
              <a:t> de </a:t>
            </a:r>
            <a:r>
              <a:rPr sz="3200" b="1" dirty="0" err="1">
                <a:solidFill>
                  <a:srgbClr val="153B3D"/>
                </a:solidFill>
              </a:rPr>
              <a:t>bancos</a:t>
            </a:r>
            <a:r>
              <a:rPr sz="3200" b="1" dirty="0">
                <a:solidFill>
                  <a:srgbClr val="153B3D"/>
                </a:solidFill>
              </a:rPr>
              <a:t> </a:t>
            </a:r>
            <a:r>
              <a:rPr sz="3200" b="1" dirty="0" err="1">
                <a:solidFill>
                  <a:srgbClr val="153B3D"/>
                </a:solidFill>
              </a:rPr>
              <a:t>relacionais</a:t>
            </a:r>
            <a:r>
              <a:rPr sz="3200" b="1" dirty="0">
                <a:solidFill>
                  <a:srgbClr val="153B3D"/>
                </a:solidFill>
              </a:rPr>
              <a:t> a </a:t>
            </a:r>
            <a:r>
              <a:rPr sz="3200" b="1" dirty="0" err="1">
                <a:solidFill>
                  <a:srgbClr val="153B3D"/>
                </a:solidFill>
              </a:rPr>
              <a:t>uma</a:t>
            </a:r>
            <a:r>
              <a:rPr sz="3200" b="1" dirty="0">
                <a:solidFill>
                  <a:srgbClr val="153B3D"/>
                </a:solidFill>
              </a:rPr>
              <a:t> </a:t>
            </a:r>
            <a:r>
              <a:rPr sz="3200" b="1" dirty="0" err="1">
                <a:solidFill>
                  <a:srgbClr val="153B3D"/>
                </a:solidFill>
              </a:rPr>
              <a:t>rotina</a:t>
            </a:r>
            <a:r>
              <a:rPr sz="3200" b="1" dirty="0">
                <a:solidFill>
                  <a:srgbClr val="153B3D"/>
                </a:solidFill>
              </a:rPr>
              <a:t> de </a:t>
            </a:r>
            <a:r>
              <a:rPr sz="3200" b="1" dirty="0" err="1">
                <a:solidFill>
                  <a:srgbClr val="153B3D"/>
                </a:solidFill>
              </a:rPr>
              <a:t>vendas</a:t>
            </a:r>
            <a:r>
              <a:rPr sz="3200" b="1" dirty="0">
                <a:solidFill>
                  <a:srgbClr val="153B3D"/>
                </a:solidFill>
              </a:rPr>
              <a:t>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BB49B5-7DAF-47D6-91F4-1E7ADD048510}"/>
              </a:ext>
            </a:extLst>
          </p:cNvPr>
          <p:cNvSpPr>
            <a:spLocks noGrp="1"/>
          </p:cNvSpPr>
          <p:nvPr/>
        </p:nvSpPr>
        <p:spPr>
          <a:xfrm>
            <a:off x="762000" y="3699194"/>
            <a:ext cx="8196580" cy="1518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536967"/>
                </a:solidFill>
              </a:defRPr>
            </a:def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536967"/>
                </a:solidFill>
              </a:defRPr>
            </a:pPr>
            <a:r>
              <a:rPr sz="2600" b="0" dirty="0">
                <a:solidFill>
                  <a:srgbClr val="536967"/>
                </a:solidFill>
              </a:rPr>
              <a:t>A </a:t>
            </a:r>
            <a:r>
              <a:rPr sz="2600" b="0" dirty="0" err="1">
                <a:solidFill>
                  <a:srgbClr val="536967"/>
                </a:solidFill>
              </a:rPr>
              <a:t>estrutura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reúne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cadastros</a:t>
            </a:r>
            <a:r>
              <a:rPr sz="2600" b="0" dirty="0">
                <a:solidFill>
                  <a:srgbClr val="536967"/>
                </a:solidFill>
              </a:rPr>
              <a:t> e </a:t>
            </a:r>
            <a:r>
              <a:rPr sz="2600" b="0" dirty="0" err="1">
                <a:solidFill>
                  <a:srgbClr val="536967"/>
                </a:solidFill>
              </a:rPr>
              <a:t>operações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em</a:t>
            </a:r>
            <a:r>
              <a:rPr sz="2600" b="0" dirty="0">
                <a:solidFill>
                  <a:srgbClr val="536967"/>
                </a:solidFill>
              </a:rPr>
              <a:t> um </a:t>
            </a:r>
            <a:r>
              <a:rPr sz="2600" b="0" dirty="0" err="1">
                <a:solidFill>
                  <a:srgbClr val="536967"/>
                </a:solidFill>
              </a:rPr>
              <a:t>só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lugar</a:t>
            </a:r>
            <a:r>
              <a:rPr sz="2600" b="0" dirty="0">
                <a:solidFill>
                  <a:srgbClr val="536967"/>
                </a:solidFill>
              </a:rPr>
              <a:t>. Procedures, views e triggers </a:t>
            </a:r>
            <a:r>
              <a:rPr sz="2600" b="0" dirty="0" err="1">
                <a:solidFill>
                  <a:srgbClr val="536967"/>
                </a:solidFill>
              </a:rPr>
              <a:t>reduzem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tarefas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repetitivas</a:t>
            </a:r>
            <a:r>
              <a:rPr sz="2600" b="0" dirty="0">
                <a:solidFill>
                  <a:srgbClr val="536967"/>
                </a:solidFill>
              </a:rPr>
              <a:t> e </a:t>
            </a:r>
            <a:r>
              <a:rPr sz="2600" b="0" dirty="0" err="1">
                <a:solidFill>
                  <a:srgbClr val="536967"/>
                </a:solidFill>
              </a:rPr>
              <a:t>simplificam</a:t>
            </a:r>
            <a:r>
              <a:rPr sz="2600" b="0" dirty="0">
                <a:solidFill>
                  <a:srgbClr val="536967"/>
                </a:solidFill>
              </a:rPr>
              <a:t> </a:t>
            </a:r>
            <a:r>
              <a:rPr sz="2600" b="0" dirty="0" err="1">
                <a:solidFill>
                  <a:srgbClr val="536967"/>
                </a:solidFill>
              </a:rPr>
              <a:t>consultas</a:t>
            </a:r>
            <a:r>
              <a:rPr sz="2600" b="0" dirty="0">
                <a:solidFill>
                  <a:srgbClr val="53696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2082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ersonalizada 2">
      <a:dk1>
        <a:srgbClr val="0A3041"/>
      </a:dk1>
      <a:lt1>
        <a:srgbClr val="FFFFFF"/>
      </a:lt1>
      <a:dk2>
        <a:srgbClr val="0A3041"/>
      </a:dk2>
      <a:lt2>
        <a:srgbClr val="FFFFFF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</TotalTime>
  <Words>421</Words>
  <Application>Microsoft Office PowerPoint</Application>
  <DocSecurity>0</DocSecurity>
  <PresentationFormat>Widescreen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Aptos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CMEISV - ALUNOS</cp:lastModifiedBy>
  <cp:revision>3</cp:revision>
  <dcterms:created xsi:type="dcterms:W3CDTF">2026-10-08T19:33:58Z</dcterms:created>
  <dcterms:modified xsi:type="dcterms:W3CDTF">2026-10-15T17:58:39Z</dcterms:modified>
</cp:coreProperties>
</file>